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Quattrocento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712AF8-A8E3-49F7-BAD7-DA0B3030FE5B}">
  <a:tblStyle styleId="{E6712AF8-A8E3-49F7-BAD7-DA0B3030FE5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QuattrocentoSans-regular.fntdata"/><Relationship Id="rId21" Type="http://schemas.openxmlformats.org/officeDocument/2006/relationships/slide" Target="slides/slide14.xml"/><Relationship Id="rId24" Type="http://schemas.openxmlformats.org/officeDocument/2006/relationships/font" Target="fonts/QuattrocentoSans-italic.fntdata"/><Relationship Id="rId23" Type="http://schemas.openxmlformats.org/officeDocument/2006/relationships/font" Target="fonts/Quattrocento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schemas.openxmlformats.org/officeDocument/2006/relationships/font" Target="fonts/QuattrocentoSans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ac6fc271e_4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ac6fc271e_4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445 Section 7, MSRB, Summer 2026 - Group 9. Hook: we do not cluster the archive after the fact; each post is processed once, as it arrives, so topics are flagged while they are still bursting. 13 content slides plus a live dashboard demo after the results.</a:t>
            </a:r>
            <a:endParaRPr/>
          </a:p>
        </p:txBody>
      </p:sp>
      <p:sp>
        <p:nvSpPr>
          <p:cNvPr id="55" name="Google Shape;55;g3fac6fc271e_4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c6fc271e_4_5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fac6fc271e_4_5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the prompt verbatim, then convert it into two testable questions. Everything after this slide is evidence for one of the two.</a:t>
            </a:r>
            <a:endParaRPr/>
          </a:p>
        </p:txBody>
      </p:sp>
      <p:sp>
        <p:nvSpPr>
          <p:cNvPr id="107" name="Google Shape;107;g3fac6fc271e_4_5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ac6fc271e_4_7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ac6fc271e_4_7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point of this slide: static clustering is not wrong, it just cannot answer a time-indexed question. That gap is what the dynamic engine fills.</a:t>
            </a:r>
            <a:endParaRPr/>
          </a:p>
        </p:txBody>
      </p:sp>
      <p:sp>
        <p:nvSpPr>
          <p:cNvPr id="129" name="Google Shape;129;g3fac6fc271e_4_7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ac6fc271e_4_9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ac6fc271e_4_9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Figures 01_platform_breakdown.png and 02_posts_over_time.png back this slide. The timeline bars are the honest version of that second figure — point at the Reddit sliver.</a:t>
            </a:r>
            <a:endParaRPr/>
          </a:p>
        </p:txBody>
      </p:sp>
      <p:sp>
        <p:nvSpPr>
          <p:cNvPr id="147" name="Google Shape;147;g3fac6fc271e_4_9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ac6fc271e_4_1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fac6fc271e_4_1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this at the architecture level — no code. The one thing to emphasise is the artifact bundle boundary between Kaggle and the local dashboard.</a:t>
            </a:r>
            <a:endParaRPr/>
          </a:p>
        </p:txBody>
      </p:sp>
      <p:sp>
        <p:nvSpPr>
          <p:cNvPr id="175" name="Google Shape;175;g3fac6fc271e_4_1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ac6fc271e_4_16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fac6fc271e_4_16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sentence per stage is enough. The honest caveat: source labels are a convenience label, not verified ground truth — it comes back on the limitations slide.</a:t>
            </a:r>
            <a:endParaRPr/>
          </a:p>
        </p:txBody>
      </p:sp>
      <p:sp>
        <p:nvSpPr>
          <p:cNvPr id="218" name="Google Shape;218;g3fac6fc271e_4_16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ac6fc271e_4_19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fac6fc271e_4_19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bullets, no maths — the maths is the next slide. Emphasise the ordering: decay happens before matching, so an abandoned cluster cannot silently keep winning matches.</a:t>
            </a:r>
            <a:endParaRPr/>
          </a:p>
        </p:txBody>
      </p:sp>
      <p:sp>
        <p:nvSpPr>
          <p:cNvPr id="250" name="Google Shape;250;g3fac6fc271e_4_19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ac6fc271e_4_22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fac6fc271e_4_22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not cut this slide for time. It is the strongest evidence that we diagnosed a real modelling bug rather than just calling library functions. The 0-of-2,616 number is the hook.</a:t>
            </a:r>
            <a:endParaRPr/>
          </a:p>
        </p:txBody>
      </p:sp>
      <p:sp>
        <p:nvSpPr>
          <p:cNvPr id="281" name="Google Shape;281;g3fac6fc271e_4_22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ac6fc271e_4_25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g3fac6fc271e_4_25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this conceptual — no numbers yet. Expect a question on whether injected bursts are realistic; answer that they are paraphrases of real topics dropped into real background traffic, not synthetic text.</a:t>
            </a:r>
            <a:endParaRPr/>
          </a:p>
        </p:txBody>
      </p:sp>
      <p:sp>
        <p:nvSpPr>
          <p:cNvPr id="315" name="Google Shape;315;g3fac6fc271e_4_25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ac6fc271e_4_27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fac6fc271e_4_27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not oversell: this is one subset and the labels are pseudo-labels. The defensible claim is 'comparable or better, at a fraction of the work'.</a:t>
            </a:r>
            <a:endParaRPr/>
          </a:p>
        </p:txBody>
      </p:sp>
      <p:sp>
        <p:nvSpPr>
          <p:cNvPr id="337" name="Google Shape;337;g3fac6fc271e_4_27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ac6fc271e_4_28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fac6fc271e_4_28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Figures 09_burst_latency.png and 10_dynamic_vs_sliding_window.png belong here if you have room. The baseline is a fair one: periodically re-clustering a trailing window is the natural brute-force alternative, and we ran it on the same slice.</a:t>
            </a:r>
            <a:endParaRPr/>
          </a:p>
        </p:txBody>
      </p:sp>
      <p:sp>
        <p:nvSpPr>
          <p:cNvPr id="350" name="Google Shape;350;g3fac6fc271e_4_28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ac6fc271e_4_31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fac6fc271e_4_31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 2-3 minutes. Rehearse the click path once so you are not navigating tabs live. Have the screenshots open in a second window as insurance.</a:t>
            </a:r>
            <a:endParaRPr/>
          </a:p>
        </p:txBody>
      </p:sp>
      <p:sp>
        <p:nvSpPr>
          <p:cNvPr id="375" name="Google Shape;375;g3fac6fc271e_4_31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ac6fc271e_4_33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3fac6fc271e_4_33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 this at a steady pace and do not apologise. Owning the collection limitation up front usually converts a hostile question into a design discussion.</a:t>
            </a:r>
            <a:endParaRPr/>
          </a:p>
        </p:txBody>
      </p:sp>
      <p:sp>
        <p:nvSpPr>
          <p:cNvPr id="400" name="Google Shape;400;g3fac6fc271e_4_33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fac6fc271e_4_36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3fac6fc271e_4_36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Close by restating the two questions from slide 2 and the one number that answers each. Then invite questions — you have already pre-empted the obvious ones on the limitations slide.</a:t>
            </a:r>
            <a:endParaRPr/>
          </a:p>
        </p:txBody>
      </p:sp>
      <p:sp>
        <p:nvSpPr>
          <p:cNvPr id="425" name="Google Shape;425;g3fac6fc271e_4_36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6000750" y="514350"/>
            <a:ext cx="123444" cy="123444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6515100" y="720090"/>
            <a:ext cx="82296" cy="82296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6995160" y="445770"/>
            <a:ext cx="96012" cy="96012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7612380" y="685800"/>
            <a:ext cx="82296" cy="82296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8161020" y="925830"/>
            <a:ext cx="109728" cy="109728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6137910" y="1200150"/>
            <a:ext cx="82296" cy="82296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6755130" y="1337310"/>
            <a:ext cx="137160" cy="137160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7338060" y="1131570"/>
            <a:ext cx="82296" cy="82296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7886700" y="1474470"/>
            <a:ext cx="96012" cy="96012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8366760" y="1200150"/>
            <a:ext cx="82296" cy="82296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5863590" y="1783080"/>
            <a:ext cx="96012" cy="96012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6377940" y="1988820"/>
            <a:ext cx="82296" cy="82296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6892290" y="1851660"/>
            <a:ext cx="82296" cy="82296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7509510" y="2125980"/>
            <a:ext cx="82296" cy="82296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8058150" y="1920240"/>
            <a:ext cx="109728" cy="109728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6103620" y="2400300"/>
            <a:ext cx="82296" cy="82296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6652260" y="2571750"/>
            <a:ext cx="109728" cy="109728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7200900" y="2331720"/>
            <a:ext cx="82296" cy="82296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7749540" y="2640330"/>
            <a:ext cx="96012" cy="96012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8298180" y="2434590"/>
            <a:ext cx="96012" cy="96012"/>
          </a:xfrm>
          <a:prstGeom prst="ellipse">
            <a:avLst/>
          </a:prstGeom>
          <a:solidFill>
            <a:srgbClr val="6D3BC9">
              <a:alpha val="45098"/>
            </a:srgbClr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6275070" y="925830"/>
            <a:ext cx="1851660" cy="1851660"/>
          </a:xfrm>
          <a:prstGeom prst="ellipse">
            <a:avLst/>
          </a:prstGeom>
          <a:solidFill>
            <a:srgbClr val="0B7F73">
              <a:alpha val="7059"/>
            </a:srgbClr>
          </a:solidFill>
          <a:ln cap="flat" cmpd="sng" w="15875">
            <a:solidFill>
              <a:srgbClr val="0B7F73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7029450" y="1611630"/>
            <a:ext cx="205740" cy="205740"/>
          </a:xfrm>
          <a:prstGeom prst="ellipse">
            <a:avLst/>
          </a:prstGeom>
          <a:solidFill>
            <a:srgbClr val="0B7F7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7283196" y="1481328"/>
            <a:ext cx="137160" cy="137160"/>
          </a:xfrm>
          <a:prstGeom prst="ellipse">
            <a:avLst/>
          </a:prstGeom>
          <a:solidFill>
            <a:srgbClr val="0B7F7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6823710" y="1426464"/>
            <a:ext cx="123444" cy="123444"/>
          </a:xfrm>
          <a:prstGeom prst="ellipse">
            <a:avLst/>
          </a:prstGeom>
          <a:solidFill>
            <a:srgbClr val="0B7F7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7214616" y="1796796"/>
            <a:ext cx="150876" cy="150876"/>
          </a:xfrm>
          <a:prstGeom prst="ellipse">
            <a:avLst/>
          </a:prstGeom>
          <a:solidFill>
            <a:srgbClr val="0B7F7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6878574" y="1865376"/>
            <a:ext cx="109728" cy="109728"/>
          </a:xfrm>
          <a:prstGeom prst="ellipse">
            <a:avLst/>
          </a:prstGeom>
          <a:solidFill>
            <a:srgbClr val="0B7F7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7420356" y="1673352"/>
            <a:ext cx="96012" cy="96012"/>
          </a:xfrm>
          <a:prstGeom prst="ellipse">
            <a:avLst/>
          </a:prstGeom>
          <a:solidFill>
            <a:srgbClr val="0B7F7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7084314" y="1289304"/>
            <a:ext cx="96012" cy="96012"/>
          </a:xfrm>
          <a:prstGeom prst="ellipse">
            <a:avLst/>
          </a:prstGeom>
          <a:solidFill>
            <a:srgbClr val="0B7F7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7461504" y="1920240"/>
            <a:ext cx="82296" cy="82296"/>
          </a:xfrm>
          <a:prstGeom prst="ellipse">
            <a:avLst/>
          </a:prstGeom>
          <a:solidFill>
            <a:srgbClr val="0B7F7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411480" y="582930"/>
            <a:ext cx="53492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CSE 445  ·  SECTION 7  ·  MSRB SUMMER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11480" y="857250"/>
            <a:ext cx="54178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3000"/>
              <a:buFont typeface="Quattrocento Sans"/>
              <a:buNone/>
            </a:pPr>
            <a:r>
              <a:rPr b="1" i="0" lang="en" sz="30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Dynamic Social Media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3000"/>
              <a:buFont typeface="Quattrocento Sans"/>
              <a:buNone/>
            </a:pPr>
            <a:r>
              <a:rPr b="1" i="0" lang="en" sz="30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Trend Detection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411480" y="2023110"/>
            <a:ext cx="507492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1100"/>
              <a:buFont typeface="Quattrocento Sans"/>
              <a:buNone/>
            </a:pPr>
            <a:r>
              <a:rPr b="0" i="0" lang="en" sz="11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 online clustering engine that watches a stream of social media posts and flags emerging topics as they burst — not after the fact.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411480" y="2983230"/>
            <a:ext cx="8298180" cy="1714500"/>
          </a:xfrm>
          <a:prstGeom prst="roundRect">
            <a:avLst>
              <a:gd fmla="val 4000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651510" y="3120390"/>
            <a:ext cx="2057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5966460" y="3120390"/>
            <a:ext cx="250317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Machine Learning Project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651510" y="3429000"/>
            <a:ext cx="3840480" cy="425196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802386" y="3429000"/>
            <a:ext cx="243459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Sharia Sakib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3291840" y="3429000"/>
            <a:ext cx="106299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0B7F73"/>
                </a:solidFill>
                <a:latin typeface="Consolas"/>
                <a:ea typeface="Consolas"/>
                <a:cs typeface="Consolas"/>
                <a:sym typeface="Consolas"/>
              </a:rPr>
              <a:t>2021270642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4697730" y="3429000"/>
            <a:ext cx="3840480" cy="425196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4848606" y="3429000"/>
            <a:ext cx="243459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Tasneem Abdullah Aurnobb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7338060" y="3429000"/>
            <a:ext cx="106299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0B7F73"/>
                </a:solidFill>
                <a:latin typeface="Consolas"/>
                <a:ea typeface="Consolas"/>
                <a:cs typeface="Consolas"/>
                <a:sym typeface="Consolas"/>
              </a:rPr>
              <a:t>2111752642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651510" y="3963924"/>
            <a:ext cx="3840480" cy="425196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802386" y="3963924"/>
            <a:ext cx="243459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Md. Asikur Rahman Asif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3291840" y="3963924"/>
            <a:ext cx="106299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0B7F73"/>
                </a:solidFill>
                <a:latin typeface="Consolas"/>
                <a:ea typeface="Consolas"/>
                <a:cs typeface="Consolas"/>
                <a:sym typeface="Consolas"/>
              </a:rPr>
              <a:t>2211704042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4697730" y="3963924"/>
            <a:ext cx="3840480" cy="425196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4848606" y="3963924"/>
            <a:ext cx="243459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Shaira Aktar Shova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7338060" y="3963924"/>
            <a:ext cx="106299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0B7F73"/>
                </a:solidFill>
                <a:latin typeface="Consolas"/>
                <a:ea typeface="Consolas"/>
                <a:cs typeface="Consolas"/>
                <a:sym typeface="Consolas"/>
              </a:rPr>
              <a:t>21221796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>
            <a:off x="411480" y="233172"/>
            <a:ext cx="82981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411480" y="425196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2300"/>
              <a:buFont typeface="Quattrocento Sans"/>
              <a:buNone/>
            </a:pPr>
            <a:r>
              <a:rPr b="1" i="0" lang="en" sz="23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we were asked to build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8298180" y="4745736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411480" y="1028700"/>
            <a:ext cx="8298180" cy="925830"/>
          </a:xfrm>
          <a:prstGeom prst="roundRect">
            <a:avLst>
              <a:gd fmla="val 6667" name="adj"/>
            </a:avLst>
          </a:prstGeom>
          <a:solidFill>
            <a:srgbClr val="EAF0FA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548640" y="1152144"/>
            <a:ext cx="41148" cy="678942"/>
          </a:xfrm>
          <a:prstGeom prst="roundRect">
            <a:avLst>
              <a:gd fmla="val 50000" name="adj"/>
            </a:avLst>
          </a:prstGeom>
          <a:solidFill>
            <a:srgbClr val="0B7F7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720090" y="1110996"/>
            <a:ext cx="771525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100"/>
              <a:buFont typeface="Quattrocento Sans"/>
              <a:buNone/>
            </a:pPr>
            <a:r>
              <a:rPr b="0" i="1" lang="en" sz="11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“Collect a diverse dataset of public social media posts from various platforms. Develop a dynamic clustering model that identifies emerging trends and topics in these posts.”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411480" y="2125980"/>
            <a:ext cx="82981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1000"/>
              <a:buFont typeface="Quattrocento Sans"/>
              <a:buNone/>
            </a:pPr>
            <a:r>
              <a:rPr b="0" i="0" lang="en" sz="10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deliverables — restated as the two questions this talk answers with numbers: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411480" y="2434590"/>
            <a:ext cx="4046220" cy="1885950"/>
          </a:xfrm>
          <a:prstGeom prst="roundRect">
            <a:avLst>
              <a:gd fmla="val 3273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617220" y="2571750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3BC9"/>
              </a:buClr>
              <a:buSzPts val="2300"/>
              <a:buFont typeface="Quattrocento Sans"/>
              <a:buNone/>
            </a:pPr>
            <a:r>
              <a:rPr b="1" i="0" lang="en" sz="2300" u="none" cap="none" strike="noStrike">
                <a:solidFill>
                  <a:srgbClr val="6D3BC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617220" y="3031236"/>
            <a:ext cx="36347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 the dataset actually diverse?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617220" y="3463290"/>
            <a:ext cx="363474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Multiple platforms, multiple topics, spread over time — and honest about where that diversity breaks down.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617220" y="4059936"/>
            <a:ext cx="36347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3BC9"/>
              </a:buClr>
              <a:buSzPts val="800"/>
              <a:buFont typeface="Quattrocento Sans"/>
              <a:buNone/>
            </a:pPr>
            <a:r>
              <a:rPr b="1" i="0" lang="en" sz="800" u="none" cap="none" strike="noStrike">
                <a:solidFill>
                  <a:srgbClr val="6D3BC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Answered on slide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4663440" y="2434590"/>
            <a:ext cx="4046220" cy="1885950"/>
          </a:xfrm>
          <a:prstGeom prst="roundRect">
            <a:avLst>
              <a:gd fmla="val 3273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4869180" y="2571750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680E"/>
              </a:buClr>
              <a:buSzPts val="2300"/>
              <a:buFont typeface="Quattrocento Sans"/>
              <a:buNone/>
            </a:pPr>
            <a:r>
              <a:rPr b="1" i="0" lang="en" sz="2300" u="none" cap="none" strike="noStrike">
                <a:solidFill>
                  <a:srgbClr val="B468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4869180" y="3031236"/>
            <a:ext cx="36347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Does it actually detect emerging trends?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4869180" y="3463290"/>
            <a:ext cx="363474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 a claim that it “works” — a detection rate and a latency, measured against a brute-force baseline.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4869180" y="4059936"/>
            <a:ext cx="36347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680E"/>
              </a:buClr>
              <a:buSzPts val="800"/>
              <a:buFont typeface="Quattrocento Sans"/>
              <a:buNone/>
            </a:pPr>
            <a:r>
              <a:rPr b="1" i="0" lang="en" sz="800" u="none" cap="none" strike="noStrike">
                <a:solidFill>
                  <a:srgbClr val="B468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Answered on slides 9–11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/>
          <p:nvPr/>
        </p:nvSpPr>
        <p:spPr>
          <a:xfrm>
            <a:off x="411480" y="233172"/>
            <a:ext cx="82981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MOTIVATION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411480" y="425196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2300"/>
              <a:buFont typeface="Quattrocento Sans"/>
              <a:buNone/>
            </a:pPr>
            <a:r>
              <a:rPr b="1" i="0" lang="en" sz="23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“dynamic” is the hard part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8298180" y="4745736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411480" y="1028700"/>
            <a:ext cx="4011930" cy="2434590"/>
          </a:xfrm>
          <a:prstGeom prst="roundRect">
            <a:avLst>
              <a:gd fmla="val 2535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630936" y="1179576"/>
            <a:ext cx="357301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1400"/>
              <a:buFont typeface="Quattrocento Sans"/>
              <a:buNone/>
            </a:pPr>
            <a:r>
              <a:rPr b="1" i="0" lang="en" sz="14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Static clustering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630936" y="1426464"/>
            <a:ext cx="35730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900"/>
              <a:buFont typeface="Quattrocento Sans"/>
              <a:buNone/>
            </a:pPr>
            <a:r>
              <a:rPr b="0" i="1" lang="en" sz="9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HDBSCAN once, over everything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630936" y="1714500"/>
            <a:ext cx="3573018" cy="1611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Sees the whole corpus at once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44000"/>
              </a:lnSpc>
              <a:spcBef>
                <a:spcPts val="700"/>
              </a:spcBef>
              <a:spcAft>
                <a:spcPts val="0"/>
              </a:spcAft>
              <a:buClr>
                <a:srgbClr val="111A2E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post revisited on every run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44000"/>
              </a:lnSpc>
              <a:spcBef>
                <a:spcPts val="700"/>
              </a:spcBef>
              <a:spcAft>
                <a:spcPts val="0"/>
              </a:spcAft>
              <a:buClr>
                <a:srgbClr val="111A2E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notion of time — cannot separate “trending now” from “trending last month”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44000"/>
              </a:lnSpc>
              <a:spcBef>
                <a:spcPts val="700"/>
              </a:spcBef>
              <a:spcAft>
                <a:spcPts val="0"/>
              </a:spcAft>
              <a:buClr>
                <a:srgbClr val="111A2E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live stream means re-clustering from scratch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4697730" y="1028700"/>
            <a:ext cx="4011930" cy="2434590"/>
          </a:xfrm>
          <a:prstGeom prst="roundRect">
            <a:avLst>
              <a:gd fmla="val 2535" name="adj"/>
            </a:avLst>
          </a:prstGeom>
          <a:solidFill>
            <a:srgbClr val="EAF0FA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4917186" y="1179576"/>
            <a:ext cx="357301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1400"/>
              <a:buFont typeface="Quattrocento Sans"/>
              <a:buNone/>
            </a:pPr>
            <a:r>
              <a:rPr b="1" i="0" lang="en" sz="14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Online micro-clustering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4917186" y="1426464"/>
            <a:ext cx="3573018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900"/>
              <a:buFont typeface="Quattrocento Sans"/>
              <a:buNone/>
            </a:pPr>
            <a:r>
              <a:rPr b="0" i="1" lang="en" sz="9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post processed once, as it arrives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4917186" y="1714500"/>
            <a:ext cx="3573018" cy="1611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pass, arrival order, no lookahead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44000"/>
              </a:lnSpc>
              <a:spcBef>
                <a:spcPts val="700"/>
              </a:spcBef>
              <a:spcAft>
                <a:spcPts val="0"/>
              </a:spcAft>
              <a:buClr>
                <a:srgbClr val="111A2E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Cluster weights decay with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44000"/>
              </a:lnSpc>
              <a:spcBef>
                <a:spcPts val="700"/>
              </a:spcBef>
              <a:spcAft>
                <a:spcPts val="0"/>
              </a:spcAft>
              <a:buClr>
                <a:srgbClr val="111A2E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“Now” is built into the model, not bolted 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44000"/>
              </a:lnSpc>
              <a:spcBef>
                <a:spcPts val="700"/>
              </a:spcBef>
              <a:spcAft>
                <a:spcPts val="0"/>
              </a:spcAft>
              <a:buClr>
                <a:srgbClr val="111A2E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posts extend the state — nothing is recomputed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411480" y="3634740"/>
            <a:ext cx="8298180" cy="720090"/>
          </a:xfrm>
          <a:prstGeom prst="roundRect">
            <a:avLst>
              <a:gd fmla="val 8571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630936" y="3634740"/>
            <a:ext cx="7859268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B4680E"/>
              </a:buClr>
              <a:buSzPts val="1000"/>
              <a:buFont typeface="Quattrocento Sans"/>
              <a:buNone/>
            </a:pPr>
            <a:r>
              <a:rPr b="1" i="0" lang="en" sz="1000" u="none" cap="none" strike="noStrike">
                <a:solidFill>
                  <a:srgbClr val="B468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Both stay in the pipeline. </a:t>
            </a:r>
            <a:r>
              <a:rPr b="0" i="0" lang="en" sz="10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static baseline is a sanity check on cluster quality — it tells us the embeddings and the similarity threshold are sane. The dynamic engine is the actual contribution. This is complementary, not either/or.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/>
          <p:nvPr/>
        </p:nvSpPr>
        <p:spPr>
          <a:xfrm>
            <a:off x="411480" y="233172"/>
            <a:ext cx="82981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11480" y="425196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2300"/>
              <a:buFont typeface="Quattrocento Sans"/>
              <a:buNone/>
            </a:pPr>
            <a:r>
              <a:rPr b="1" i="0" lang="en" sz="23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Diversity across platforms — and its limits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8298180" y="4745736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18"/>
          <p:cNvGraphicFramePr/>
          <p:nvPr/>
        </p:nvGraphicFramePr>
        <p:xfrm>
          <a:off x="411480" y="102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{E6712AF8-A8E3-49F7-BAD7-DA0B3030FE5B}</a:tableStyleId>
              </a:tblPr>
              <a:tblGrid>
                <a:gridCol w="1440175"/>
                <a:gridCol w="1028700"/>
                <a:gridCol w="1508750"/>
              </a:tblGrid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F73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B7F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Platform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F73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B7F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Posts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F73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B7F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Time window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Reddit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9,982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Jul 27 – Aug 24, 2024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Twitter / X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11,020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Dec 2020 – Nov 2021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YouTube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23,751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2014 – 2026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7859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77859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Bluesky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7859C"/>
                        </a:buClr>
                        <a:buSzPts val="900"/>
                        <a:buFont typeface="Quattrocento Sans"/>
                        <a:buNone/>
                      </a:pPr>
                      <a:r>
                        <a:rPr i="1" lang="en" sz="900" u="none" cap="none" strike="noStrike">
                          <a:solidFill>
                            <a:srgbClr val="77859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loader pending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7859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77859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Total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F73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B7F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44,753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 platforms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  <p:sp>
        <p:nvSpPr>
          <p:cNvPr id="153" name="Google Shape;153;p18"/>
          <p:cNvSpPr/>
          <p:nvPr/>
        </p:nvSpPr>
        <p:spPr>
          <a:xfrm>
            <a:off x="411480" y="2880360"/>
            <a:ext cx="397764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1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 sample — replace with df[“platform”].value_counts() and platform_windows(df) from your Kaggle run (notebook §3)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732020" y="1028700"/>
            <a:ext cx="397764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000"/>
              <a:buFont typeface="Quattrocento Sans"/>
              <a:buNone/>
            </a:pPr>
            <a:r>
              <a:rPr b="1" i="0" lang="en" sz="10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Coverage on a shared timeline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4732020" y="1323594"/>
            <a:ext cx="3977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YouTube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4732020" y="1501902"/>
            <a:ext cx="3977640" cy="178308"/>
          </a:xfrm>
          <a:prstGeom prst="roundRect">
            <a:avLst>
              <a:gd fmla="val 19231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4732020" y="1501902"/>
            <a:ext cx="3945819" cy="178308"/>
          </a:xfrm>
          <a:prstGeom prst="roundRect">
            <a:avLst>
              <a:gd fmla="val 19231" name="adj"/>
            </a:avLst>
          </a:prstGeom>
          <a:solidFill>
            <a:srgbClr val="C0392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4732020" y="1817370"/>
            <a:ext cx="3977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Twitter / 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4732020" y="1995678"/>
            <a:ext cx="3977640" cy="178308"/>
          </a:xfrm>
          <a:prstGeom prst="roundRect">
            <a:avLst>
              <a:gd fmla="val 19231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6943588" y="1995678"/>
            <a:ext cx="302301" cy="178308"/>
          </a:xfrm>
          <a:prstGeom prst="roundRect">
            <a:avLst>
              <a:gd fmla="val 19231" name="adj"/>
            </a:avLst>
          </a:prstGeom>
          <a:solidFill>
            <a:srgbClr val="6D3BC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4732020" y="2311146"/>
            <a:ext cx="3977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Reddit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4732020" y="2489454"/>
            <a:ext cx="3977640" cy="178308"/>
          </a:xfrm>
          <a:prstGeom prst="roundRect">
            <a:avLst>
              <a:gd fmla="val 19231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8095513" y="2489454"/>
            <a:ext cx="54864" cy="178308"/>
          </a:xfrm>
          <a:prstGeom prst="roundRect">
            <a:avLst>
              <a:gd fmla="val 62500" name="adj"/>
            </a:avLst>
          </a:prstGeom>
          <a:solidFill>
            <a:srgbClr val="0B7F7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4" name="Google Shape;164;p18"/>
          <p:cNvCxnSpPr/>
          <p:nvPr/>
        </p:nvCxnSpPr>
        <p:spPr>
          <a:xfrm>
            <a:off x="4732020" y="2935224"/>
            <a:ext cx="3977640" cy="0"/>
          </a:xfrm>
          <a:prstGeom prst="straightConnector1">
            <a:avLst/>
          </a:prstGeom>
          <a:noFill/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18"/>
          <p:cNvSpPr/>
          <p:nvPr/>
        </p:nvSpPr>
        <p:spPr>
          <a:xfrm>
            <a:off x="4526280" y="2962656"/>
            <a:ext cx="41148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480914" y="2962656"/>
            <a:ext cx="41148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6435548" y="2962656"/>
            <a:ext cx="41148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7390180" y="2962656"/>
            <a:ext cx="41148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8344814" y="2962656"/>
            <a:ext cx="41148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411480" y="3394710"/>
            <a:ext cx="8298180" cy="960120"/>
          </a:xfrm>
          <a:prstGeom prst="roundRect">
            <a:avLst>
              <a:gd fmla="val 6429" name="adj"/>
            </a:avLst>
          </a:prstGeom>
          <a:solidFill>
            <a:srgbClr val="EAF0FA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630936" y="3394710"/>
            <a:ext cx="785926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B4680E"/>
              </a:buClr>
              <a:buSzPts val="1000"/>
              <a:buFont typeface="Quattrocento Sans"/>
              <a:buNone/>
            </a:pPr>
            <a:r>
              <a:rPr b="1" i="0" lang="en" sz="1000" u="none" cap="none" strike="noStrike">
                <a:solidFill>
                  <a:srgbClr val="B468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Say this out loud, don't hide it.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1000"/>
              <a:buFont typeface="Quattrocento Sans"/>
              <a:buNone/>
            </a:pPr>
            <a:r>
              <a:rPr b="0" i="0" lang="en" sz="10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platforms barely overlap in time as collected, so a genuine cross-platform trend cannot co-occur in this corpus. Reddit is a four-week slice; Twitter sits three years earlier. We report per-platform results and revisit this on the limitations slide — it is a collection limitation we own, not a bug we missed.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/>
          <p:nvPr/>
        </p:nvSpPr>
        <p:spPr>
          <a:xfrm>
            <a:off x="411480" y="233172"/>
            <a:ext cx="82981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411480" y="425196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2300"/>
              <a:buFont typeface="Quattrocento Sans"/>
              <a:buNone/>
            </a:pPr>
            <a:r>
              <a:rPr b="1" i="0" lang="en" sz="23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Pipeline: six stages, one pass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8298180" y="4745736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11480" y="1165860"/>
            <a:ext cx="1220724" cy="1268730"/>
          </a:xfrm>
          <a:prstGeom prst="roundRect">
            <a:avLst>
              <a:gd fmla="val 5056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07492" y="1275588"/>
            <a:ext cx="109728" cy="109728"/>
          </a:xfrm>
          <a:prstGeom prst="ellipse">
            <a:avLst/>
          </a:prstGeom>
          <a:solidFill>
            <a:srgbClr val="6D3BC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658368" y="1234440"/>
            <a:ext cx="87782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Ingest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07492" y="1508760"/>
            <a:ext cx="10287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Loaders per platform → one normalised frame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1632204" y="1645920"/>
            <a:ext cx="1947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1300"/>
              <a:buFont typeface="Quattrocento Sans"/>
              <a:buNone/>
            </a:pPr>
            <a:r>
              <a:rPr b="1" i="0" lang="en" sz="13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1826971" y="1165860"/>
            <a:ext cx="1220724" cy="1268730"/>
          </a:xfrm>
          <a:prstGeom prst="roundRect">
            <a:avLst>
              <a:gd fmla="val 5056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1922984" y="1275588"/>
            <a:ext cx="109728" cy="109728"/>
          </a:xfrm>
          <a:prstGeom prst="ellipse">
            <a:avLst/>
          </a:prstGeom>
          <a:solidFill>
            <a:srgbClr val="6D3BC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2073860" y="1234440"/>
            <a:ext cx="87782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1922984" y="1508760"/>
            <a:ext cx="10287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all-MiniLM-L6-v2, 384-d sentence vectors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3047696" y="1645920"/>
            <a:ext cx="1947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1300"/>
              <a:buFont typeface="Quattrocento Sans"/>
              <a:buNone/>
            </a:pPr>
            <a:r>
              <a:rPr b="1" i="0" lang="en" sz="13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3242462" y="1165860"/>
            <a:ext cx="1220724" cy="1268730"/>
          </a:xfrm>
          <a:prstGeom prst="roundRect">
            <a:avLst>
              <a:gd fmla="val 5056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3338474" y="1275588"/>
            <a:ext cx="109728" cy="109728"/>
          </a:xfrm>
          <a:prstGeom prst="ellipse">
            <a:avLst/>
          </a:prstGeom>
          <a:solidFill>
            <a:srgbClr val="0B7F7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3489350" y="1234440"/>
            <a:ext cx="87782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Cluster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3338474" y="1508760"/>
            <a:ext cx="10287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Static: UMAP+HDBSCAN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Dynamic: online micro-clusters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4463186" y="1645920"/>
            <a:ext cx="194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1300"/>
              <a:buFont typeface="Quattrocento Sans"/>
              <a:buNone/>
            </a:pPr>
            <a:r>
              <a:rPr b="1" i="0" lang="en" sz="13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4657954" y="1165860"/>
            <a:ext cx="1220724" cy="1268730"/>
          </a:xfrm>
          <a:prstGeom prst="roundRect">
            <a:avLst>
              <a:gd fmla="val 5056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4753966" y="1275588"/>
            <a:ext cx="109728" cy="109728"/>
          </a:xfrm>
          <a:prstGeom prst="ellipse">
            <a:avLst/>
          </a:prstGeom>
          <a:solidFill>
            <a:srgbClr val="0B7F7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4904842" y="1234440"/>
            <a:ext cx="87782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4753966" y="1508760"/>
            <a:ext cx="10287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Decayed weight, growth rate, burst z-score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5878678" y="1645920"/>
            <a:ext cx="194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1300"/>
              <a:buFont typeface="Quattrocento Sans"/>
              <a:buNone/>
            </a:pPr>
            <a:r>
              <a:rPr b="1" i="0" lang="en" sz="13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6073444" y="1165860"/>
            <a:ext cx="1220724" cy="1268730"/>
          </a:xfrm>
          <a:prstGeom prst="roundRect">
            <a:avLst>
              <a:gd fmla="val 5056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6169457" y="1275588"/>
            <a:ext cx="109728" cy="109728"/>
          </a:xfrm>
          <a:prstGeom prst="ellipse">
            <a:avLst/>
          </a:prstGeom>
          <a:solidFill>
            <a:srgbClr val="B4680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6320333" y="1234440"/>
            <a:ext cx="87782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6169457" y="1508760"/>
            <a:ext cx="10287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ARI / NMI / silhouette + burst injection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7294169" y="1645920"/>
            <a:ext cx="194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1300"/>
              <a:buFont typeface="Quattrocento Sans"/>
              <a:buNone/>
            </a:pPr>
            <a:r>
              <a:rPr b="1" i="0" lang="en" sz="13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7488936" y="1165860"/>
            <a:ext cx="1220724" cy="1268730"/>
          </a:xfrm>
          <a:prstGeom prst="roundRect">
            <a:avLst>
              <a:gd fmla="val 5056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7584948" y="1275588"/>
            <a:ext cx="109728" cy="109728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7735824" y="1234440"/>
            <a:ext cx="877824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Serve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7584948" y="1508760"/>
            <a:ext cx="10287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Streamlit dashboard reads the artifacts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1826971" y="2571750"/>
            <a:ext cx="5467198" cy="342900"/>
          </a:xfrm>
          <a:prstGeom prst="roundRect">
            <a:avLst>
              <a:gd fmla="val 16000" name="adj"/>
            </a:avLst>
          </a:prstGeom>
          <a:solidFill>
            <a:srgbClr val="0B7F73">
              <a:alpha val="10196"/>
            </a:srgbClr>
          </a:solidFill>
          <a:ln cap="flat" cmpd="sng" w="15875">
            <a:solidFill>
              <a:srgbClr val="0B7F73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1826971" y="2571750"/>
            <a:ext cx="546719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Runs once on Kaggle  ·  GPU (T4)  ·  ~20 min end-to-end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7488936" y="2571750"/>
            <a:ext cx="1220724" cy="342900"/>
          </a:xfrm>
          <a:prstGeom prst="roundRect">
            <a:avLst>
              <a:gd fmla="val 16000" name="adj"/>
            </a:avLst>
          </a:prstGeom>
          <a:solidFill>
            <a:srgbClr val="C0392B">
              <a:alpha val="10196"/>
            </a:srgbClr>
          </a:solidFill>
          <a:ln cap="flat" cmpd="sng" w="15875">
            <a:solidFill>
              <a:srgbClr val="C0392B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7488936" y="2571750"/>
            <a:ext cx="1220724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Local, instant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411480" y="3223260"/>
            <a:ext cx="8298180" cy="1097280"/>
          </a:xfrm>
          <a:prstGeom prst="roundRect">
            <a:avLst>
              <a:gd fmla="val 5625" name="adj"/>
            </a:avLst>
          </a:prstGeom>
          <a:solidFill>
            <a:srgbClr val="EAF0FA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630936" y="3223260"/>
            <a:ext cx="785926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000"/>
              <a:buFont typeface="Quattrocento Sans"/>
              <a:buNone/>
            </a:pPr>
            <a:r>
              <a:rPr b="1" i="0" lang="en" sz="10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the split matters.  </a:t>
            </a:r>
            <a:r>
              <a:rPr b="0" i="0" lang="en" sz="10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Embedding, clustering and evaluation are the GPU-heavy stages, so they run once on Kaggle and write a self-contained artifact bundle — embeddings, cluster assignments, trend scores, evaluation tables and figures. The dashboard never recomputes anything: it loads that bundle in “Precomputed” mode and renders instantly, which is exactly what makes a live demo safe to give.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/>
          <p:nvPr/>
        </p:nvSpPr>
        <p:spPr>
          <a:xfrm>
            <a:off x="411480" y="233172"/>
            <a:ext cx="82981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METHOD — PART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411480" y="425196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2300"/>
              <a:buFont typeface="Quattrocento Sans"/>
              <a:buNone/>
            </a:pPr>
            <a:r>
              <a:rPr b="1" i="0" lang="en" sz="23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Static baseline: embed → reduce → cluster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8298180" y="4745736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411480" y="1028700"/>
            <a:ext cx="4114800" cy="788670"/>
          </a:xfrm>
          <a:prstGeom prst="roundRect">
            <a:avLst>
              <a:gd fmla="val 7826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562356" y="1234440"/>
            <a:ext cx="411480" cy="411480"/>
          </a:xfrm>
          <a:prstGeom prst="roundRect">
            <a:avLst>
              <a:gd fmla="val 20000" name="adj"/>
            </a:avLst>
          </a:prstGeom>
          <a:solidFill>
            <a:srgbClr val="6D3BC9">
              <a:alpha val="14118"/>
            </a:srgbClr>
          </a:solidFill>
          <a:ln cap="flat" cmpd="sng" w="15875">
            <a:solidFill>
              <a:srgbClr val="6D3B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562356" y="12344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3BC9"/>
              </a:buClr>
              <a:buSzPts val="1400"/>
              <a:buFont typeface="Quattrocento Sans"/>
              <a:buNone/>
            </a:pPr>
            <a:r>
              <a:rPr b="1" i="0" lang="en" sz="1400" u="none" cap="none" strike="noStrike">
                <a:solidFill>
                  <a:srgbClr val="6D3BC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1097280" y="1179576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all-MiniLM-L6-v2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1097280" y="140589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Sentence-transformer embeddings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384 dimensions per post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630936" y="1803654"/>
            <a:ext cx="27432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411480" y="1933956"/>
            <a:ext cx="4114800" cy="788670"/>
          </a:xfrm>
          <a:prstGeom prst="roundRect">
            <a:avLst>
              <a:gd fmla="val 7826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562356" y="2139696"/>
            <a:ext cx="411480" cy="411480"/>
          </a:xfrm>
          <a:prstGeom prst="roundRect">
            <a:avLst>
              <a:gd fmla="val 20000" name="adj"/>
            </a:avLst>
          </a:prstGeom>
          <a:solidFill>
            <a:srgbClr val="0B7F73">
              <a:alpha val="14118"/>
            </a:srgbClr>
          </a:solidFill>
          <a:ln cap="flat" cmpd="sng" w="15875">
            <a:solidFill>
              <a:srgbClr val="0B7F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562356" y="213969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1400"/>
              <a:buFont typeface="Quattrocento Sans"/>
              <a:buNone/>
            </a:pPr>
            <a:r>
              <a:rPr b="1" i="0" lang="en" sz="14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1097280" y="2084832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UMAP → 5D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1097280" y="2311146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Non-linear reduction that preserves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local neighbourhood structure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630936" y="2708910"/>
            <a:ext cx="27432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411480" y="2839212"/>
            <a:ext cx="4114800" cy="788670"/>
          </a:xfrm>
          <a:prstGeom prst="roundRect">
            <a:avLst>
              <a:gd fmla="val 7826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562356" y="3044952"/>
            <a:ext cx="411480" cy="411480"/>
          </a:xfrm>
          <a:prstGeom prst="roundRect">
            <a:avLst>
              <a:gd fmla="val 20000" name="adj"/>
            </a:avLst>
          </a:prstGeom>
          <a:solidFill>
            <a:srgbClr val="B4680E">
              <a:alpha val="14118"/>
            </a:srgbClr>
          </a:solidFill>
          <a:ln cap="flat" cmpd="sng" w="15875">
            <a:solidFill>
              <a:srgbClr val="B468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562356" y="304495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680E"/>
              </a:buClr>
              <a:buSzPts val="1400"/>
              <a:buFont typeface="Quattrocento Sans"/>
              <a:buNone/>
            </a:pPr>
            <a:r>
              <a:rPr b="1" i="0" lang="en" sz="1400" u="none" cap="none" strike="noStrike">
                <a:solidFill>
                  <a:srgbClr val="B468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1097280" y="2990088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HDBSCAN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1097280" y="3216402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Density-based clustering, variable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cluster count, explicit noise label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4869180" y="1062990"/>
            <a:ext cx="3840480" cy="2674620"/>
          </a:xfrm>
          <a:prstGeom prst="roundRect">
            <a:avLst>
              <a:gd fmla="val 2308" name="adj"/>
            </a:avLst>
          </a:prstGeom>
          <a:solidFill>
            <a:srgbClr val="F5F7FC"/>
          </a:solidFill>
          <a:ln cap="flat" cmpd="sng" w="15875">
            <a:solidFill>
              <a:srgbClr val="6D3BC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4869180" y="209169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3BC9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6D3BC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03_umap_scatter.png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5074920" y="2345436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Drop the UMAP scatter here, coloured by HDBSCAN cluster —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data/artifacts/figures/ after the Kaggle run.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it big: it is the most visually convincing slide in the deck.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4869180" y="3874770"/>
            <a:ext cx="3840480" cy="651510"/>
          </a:xfrm>
          <a:prstGeom prst="roundRect">
            <a:avLst>
              <a:gd fmla="val 9474" name="adj"/>
            </a:avLst>
          </a:prstGeom>
          <a:solidFill>
            <a:srgbClr val="EAF0FA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5061204" y="3874770"/>
            <a:ext cx="3456432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UMAP first: </a:t>
            </a: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HDBSCAN needs density structure, which is far easier to find in 5 dimensions than in 384 raw ones.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411480" y="3874770"/>
            <a:ext cx="4114800" cy="651510"/>
          </a:xfrm>
          <a:prstGeom prst="roundRect">
            <a:avLst>
              <a:gd fmla="val 9474" name="adj"/>
            </a:avLst>
          </a:prstGeom>
          <a:solidFill>
            <a:srgbClr val="EAF0FA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0"/>
          <p:cNvSpPr/>
          <p:nvPr/>
        </p:nvSpPr>
        <p:spPr>
          <a:xfrm>
            <a:off x="603504" y="3874770"/>
            <a:ext cx="3730752" cy="65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Scored against the </a:t>
            </a:r>
            <a:r>
              <a:rPr b="1" i="0" lang="en" sz="9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</a:t>
            </a: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column — subreddit or YouTube topic — as a free pseudo-label. Not a claim of ground truth; a useful signal.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/>
          <p:nvPr/>
        </p:nvSpPr>
        <p:spPr>
          <a:xfrm>
            <a:off x="411480" y="233172"/>
            <a:ext cx="82981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METHOD — PART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411480" y="425196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2300"/>
              <a:buFont typeface="Quattrocento Sans"/>
              <a:buNone/>
            </a:pPr>
            <a:r>
              <a:rPr b="1" i="0" lang="en" sz="23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dynamic engine: one post, one pass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8298180" y="4745736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411480" y="1014984"/>
            <a:ext cx="82981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1000"/>
              <a:buFont typeface="Quattrocento Sans"/>
              <a:buNone/>
            </a:pPr>
            <a:r>
              <a:rPr b="0" i="0" lang="en" sz="10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each incoming post, in arrival order: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411480" y="1289304"/>
            <a:ext cx="2638044" cy="1680210"/>
          </a:xfrm>
          <a:prstGeom prst="roundRect">
            <a:avLst>
              <a:gd fmla="val 3673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617220" y="1426464"/>
            <a:ext cx="8229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3BC9"/>
              </a:buClr>
              <a:buSzPts val="2000"/>
              <a:buFont typeface="Quattrocento Sans"/>
              <a:buNone/>
            </a:pPr>
            <a:r>
              <a:rPr b="1" i="0" lang="en" sz="2000" u="none" cap="none" strike="noStrike">
                <a:solidFill>
                  <a:srgbClr val="6D3BC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617220" y="1796796"/>
            <a:ext cx="22265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617220" y="2057400"/>
            <a:ext cx="22265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live cluster's weight decays by the time elapsed since it was last touched — forgetting applied before anything else.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3241548" y="1289304"/>
            <a:ext cx="2638044" cy="1680210"/>
          </a:xfrm>
          <a:prstGeom prst="roundRect">
            <a:avLst>
              <a:gd fmla="val 3673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3447288" y="1426464"/>
            <a:ext cx="8229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2000"/>
              <a:buFont typeface="Quattrocento Sans"/>
              <a:buNone/>
            </a:pPr>
            <a:r>
              <a:rPr b="1" i="0" lang="en" sz="20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3447288" y="1796796"/>
            <a:ext cx="22265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3447288" y="2057400"/>
            <a:ext cx="22265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Cosine similarity between the post's embedding and every live cluster centroid; take the nearest one.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6071616" y="1289304"/>
            <a:ext cx="2638044" cy="1680210"/>
          </a:xfrm>
          <a:prstGeom prst="roundRect">
            <a:avLst>
              <a:gd fmla="val 3673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6277356" y="1426464"/>
            <a:ext cx="8229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680E"/>
              </a:buClr>
              <a:buSzPts val="2000"/>
              <a:buFont typeface="Quattrocento Sans"/>
              <a:buNone/>
            </a:pPr>
            <a:r>
              <a:rPr b="1" i="0" lang="en" sz="2000" u="none" cap="none" strike="noStrike">
                <a:solidFill>
                  <a:srgbClr val="B468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6277356" y="1796796"/>
            <a:ext cx="22265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Merge or spawn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6277356" y="2057400"/>
            <a:ext cx="22265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Above the similarity threshold → absorb the post and update the centroid. Below → spawn a new micro-cluster.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411480" y="3120390"/>
            <a:ext cx="8298180" cy="685800"/>
          </a:xfrm>
          <a:prstGeom prst="roundRect">
            <a:avLst>
              <a:gd fmla="val 9000" name="adj"/>
            </a:avLst>
          </a:prstGeom>
          <a:solidFill>
            <a:srgbClr val="EAF0FA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630936" y="3120390"/>
            <a:ext cx="78592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1000"/>
              <a:buFont typeface="Quattrocento Sans"/>
              <a:buNone/>
            </a:pPr>
            <a:r>
              <a:rPr b="1" i="0" lang="en" sz="10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key design choice.  </a:t>
            </a:r>
            <a:r>
              <a:rPr b="0" i="0" lang="en" sz="10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cluster's decayed </a:t>
            </a:r>
            <a:r>
              <a:rPr b="1" i="1" lang="en" sz="10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weight</a:t>
            </a:r>
            <a:r>
              <a:rPr b="0" i="0" lang="en" sz="10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is a recency-weighted measure of how much a topic is still being talked about — not a raw post count. A thread with 500 posts last March weighs less than one with 30 posts this hour.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411480" y="3963924"/>
            <a:ext cx="1971675" cy="377190"/>
          </a:xfrm>
          <a:prstGeom prst="roundRect">
            <a:avLst>
              <a:gd fmla="val 18182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411480" y="3963924"/>
            <a:ext cx="1971675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re-clustering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2520315" y="3963924"/>
            <a:ext cx="1971675" cy="377190"/>
          </a:xfrm>
          <a:prstGeom prst="roundRect">
            <a:avLst>
              <a:gd fmla="val 18182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2520315" y="3963924"/>
            <a:ext cx="1971675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lookahead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4629150" y="3963924"/>
            <a:ext cx="1971675" cy="377190"/>
          </a:xfrm>
          <a:prstGeom prst="roundRect">
            <a:avLst>
              <a:gd fmla="val 18182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4629150" y="3963924"/>
            <a:ext cx="1971675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O(1) per post, amortised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6737985" y="3963924"/>
            <a:ext cx="1971675" cy="377190"/>
          </a:xfrm>
          <a:prstGeom prst="roundRect">
            <a:avLst>
              <a:gd fmla="val 18182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1"/>
          <p:cNvSpPr/>
          <p:nvPr/>
        </p:nvSpPr>
        <p:spPr>
          <a:xfrm>
            <a:off x="6737985" y="3963924"/>
            <a:ext cx="1971675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 grows, never rebuilds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/>
          <p:nvPr/>
        </p:nvSpPr>
        <p:spPr>
          <a:xfrm>
            <a:off x="411480" y="233172"/>
            <a:ext cx="82981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DIFFERENTIATOR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411480" y="425196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2300"/>
              <a:buFont typeface="Quattrocento Sans"/>
              <a:buNone/>
            </a:pPr>
            <a:r>
              <a:rPr b="1" i="0" lang="en" sz="23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half-life trick: a scale-free growth rate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8298180" y="4745736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411480" y="994410"/>
            <a:ext cx="3771900" cy="1062990"/>
          </a:xfrm>
          <a:prstGeom prst="roundRect">
            <a:avLst>
              <a:gd fmla="val 5806" name="adj"/>
            </a:avLst>
          </a:prstGeom>
          <a:solidFill>
            <a:srgbClr val="EAF0FA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2"/>
          <p:cNvSpPr/>
          <p:nvPr/>
        </p:nvSpPr>
        <p:spPr>
          <a:xfrm>
            <a:off x="617220" y="1097280"/>
            <a:ext cx="33604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1500"/>
              <a:buFont typeface="Quattrocento Sans"/>
              <a:buNone/>
            </a:pPr>
            <a:r>
              <a:rPr b="1" i="0" lang="en" sz="15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w(t)  =  w₀ · 2 ^ ( − Δt / t½ 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617220" y="1426464"/>
            <a:ext cx="33604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plain language: a cluster receiving no new posts loses exactly half its weight every half-life — by construction, not by tuning.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4389120" y="994410"/>
            <a:ext cx="4320540" cy="1062990"/>
          </a:xfrm>
          <a:prstGeom prst="roundRect">
            <a:avLst>
              <a:gd fmla="val 5806" name="adj"/>
            </a:avLst>
          </a:prstGeom>
          <a:solidFill>
            <a:srgbClr val="EAF0FA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2"/>
          <p:cNvSpPr/>
          <p:nvPr/>
        </p:nvSpPr>
        <p:spPr>
          <a:xfrm>
            <a:off x="4594860" y="1097280"/>
            <a:ext cx="39090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680E"/>
              </a:buClr>
              <a:buSzPts val="1400"/>
              <a:buFont typeface="Quattrocento Sans"/>
              <a:buNone/>
            </a:pPr>
            <a:r>
              <a:rPr b="1" i="0" lang="en" sz="1400" u="none" cap="none" strike="noStrike">
                <a:solidFill>
                  <a:srgbClr val="B468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growth  =  Δw / w   per half-life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4594860" y="1426464"/>
            <a:ext cx="39090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Dimensionless. The same number means the same thing whether the corpus spans 48 hours or 8 months — so thresholds transfer across platforms.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411480" y="2194560"/>
            <a:ext cx="82981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000"/>
              <a:buFont typeface="Quattrocento Sans"/>
              <a:buNone/>
            </a:pPr>
            <a:r>
              <a:rPr b="1" i="0" lang="en" sz="10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the number means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411480" y="2434590"/>
            <a:ext cx="1981962" cy="857250"/>
          </a:xfrm>
          <a:prstGeom prst="roundRect">
            <a:avLst>
              <a:gd fmla="val 8000" name="adj"/>
            </a:avLst>
          </a:prstGeom>
          <a:solidFill>
            <a:srgbClr val="F5F7FC"/>
          </a:solidFill>
          <a:ln cap="flat" cmpd="sng" w="15875">
            <a:solidFill>
              <a:srgbClr val="5B6B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514350" y="2510028"/>
            <a:ext cx="177622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500"/>
              <a:buFont typeface="Quattrocento Sans"/>
              <a:buNone/>
            </a:pPr>
            <a:r>
              <a:rPr b="1" i="0" lang="en" sz="1500" u="none" cap="none" strike="noStrike">
                <a:solidFill>
                  <a:srgbClr val="5B6B8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−0.5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493776" y="2811780"/>
            <a:ext cx="18173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000"/>
              <a:buFont typeface="Quattrocento Sans"/>
              <a:buNone/>
            </a:pPr>
            <a:r>
              <a:rPr b="1" i="0" lang="en" sz="10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Dormant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493776" y="3017520"/>
            <a:ext cx="18173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new posts at all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2516886" y="2434590"/>
            <a:ext cx="1981962" cy="857250"/>
          </a:xfrm>
          <a:prstGeom prst="roundRect">
            <a:avLst>
              <a:gd fmla="val 8000" name="adj"/>
            </a:avLst>
          </a:prstGeom>
          <a:solidFill>
            <a:srgbClr val="F5F7FC"/>
          </a:solidFill>
          <a:ln cap="flat" cmpd="sng" w="1587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2619756" y="2510028"/>
            <a:ext cx="177622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Quattrocento Sans"/>
              <a:buNone/>
            </a:pPr>
            <a:r>
              <a:rPr b="1" i="0" lang="en" sz="15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&lt; 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2599182" y="2811780"/>
            <a:ext cx="18173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000"/>
              <a:buFont typeface="Quattrocento Sans"/>
              <a:buNone/>
            </a:pPr>
            <a:r>
              <a:rPr b="1" i="0" lang="en" sz="10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Declining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2599182" y="3017520"/>
            <a:ext cx="18173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arriving slower than decay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4622292" y="2434590"/>
            <a:ext cx="1981962" cy="857250"/>
          </a:xfrm>
          <a:prstGeom prst="roundRect">
            <a:avLst>
              <a:gd fmla="val 8000" name="adj"/>
            </a:avLst>
          </a:prstGeom>
          <a:solidFill>
            <a:srgbClr val="F5F7FC"/>
          </a:solidFill>
          <a:ln cap="flat" cmpd="sng" w="15875">
            <a:solidFill>
              <a:srgbClr val="6D3B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2"/>
          <p:cNvSpPr/>
          <p:nvPr/>
        </p:nvSpPr>
        <p:spPr>
          <a:xfrm>
            <a:off x="4725162" y="2510028"/>
            <a:ext cx="177622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3BC9"/>
              </a:buClr>
              <a:buSzPts val="1500"/>
              <a:buFont typeface="Quattrocento Sans"/>
              <a:buNone/>
            </a:pPr>
            <a:r>
              <a:rPr b="1" i="0" lang="en" sz="1500" u="none" cap="none" strike="noStrike">
                <a:solidFill>
                  <a:srgbClr val="6D3BC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 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4704588" y="2811780"/>
            <a:ext cx="18173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000"/>
              <a:buFont typeface="Quattrocento Sans"/>
              <a:buNone/>
            </a:pPr>
            <a:r>
              <a:rPr b="1" i="0" lang="en" sz="10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Steady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4704588" y="3017520"/>
            <a:ext cx="18173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holding its own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6727698" y="2434590"/>
            <a:ext cx="1981962" cy="857250"/>
          </a:xfrm>
          <a:prstGeom prst="roundRect">
            <a:avLst>
              <a:gd fmla="val 8000" name="adj"/>
            </a:avLst>
          </a:prstGeom>
          <a:solidFill>
            <a:srgbClr val="F5F7FC"/>
          </a:solidFill>
          <a:ln cap="flat" cmpd="sng" w="15875">
            <a:solidFill>
              <a:srgbClr val="0B7F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2"/>
          <p:cNvSpPr/>
          <p:nvPr/>
        </p:nvSpPr>
        <p:spPr>
          <a:xfrm>
            <a:off x="6830568" y="2510028"/>
            <a:ext cx="177622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1500"/>
              <a:buFont typeface="Quattrocento Sans"/>
              <a:buNone/>
            </a:pPr>
            <a:r>
              <a:rPr b="1" i="0" lang="en" sz="15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&gt; 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6809994" y="2811780"/>
            <a:ext cx="18173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000"/>
              <a:buFont typeface="Quattrocento Sans"/>
              <a:buNone/>
            </a:pPr>
            <a:r>
              <a:rPr b="1" i="0" lang="en" sz="10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Rising / Trending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6809994" y="3017520"/>
            <a:ext cx="181737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 reinforcement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411480" y="3497580"/>
            <a:ext cx="8298180" cy="857250"/>
          </a:xfrm>
          <a:prstGeom prst="roundRect">
            <a:avLst>
              <a:gd fmla="val 7200" name="adj"/>
            </a:avLst>
          </a:prstGeom>
          <a:solidFill>
            <a:srgbClr val="EAF0FA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562356" y="3614166"/>
            <a:ext cx="41148" cy="624078"/>
          </a:xfrm>
          <a:prstGeom prst="roundRect">
            <a:avLst>
              <a:gd fmla="val 50000" name="adj"/>
            </a:avLst>
          </a:prstGeom>
          <a:solidFill>
            <a:srgbClr val="B4680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2"/>
          <p:cNvSpPr/>
          <p:nvPr/>
        </p:nvSpPr>
        <p:spPr>
          <a:xfrm>
            <a:off x="720090" y="3497580"/>
            <a:ext cx="774954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B4680E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B468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this mattered.  </a:t>
            </a: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 earlier version sampled cluster weight only when a cluster received a post, so decay between posts was invisible. On real data that produced </a:t>
            </a:r>
            <a:r>
              <a:rPr b="1" i="0" lang="en" sz="9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 trending clusters out of 2,616</a:t>
            </a: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with exactly one ever marked declining. Sampling on a regular time grid instead, and switching to this growth rate, made all four states — dormant, rising, trending, declining — actually reachable.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"/>
          <p:cNvSpPr/>
          <p:nvPr/>
        </p:nvSpPr>
        <p:spPr>
          <a:xfrm>
            <a:off x="411480" y="233172"/>
            <a:ext cx="82981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3"/>
          <p:cNvSpPr/>
          <p:nvPr/>
        </p:nvSpPr>
        <p:spPr>
          <a:xfrm>
            <a:off x="411480" y="425196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2300"/>
              <a:buFont typeface="Quattrocento Sans"/>
              <a:buNone/>
            </a:pPr>
            <a:r>
              <a:rPr b="1" i="0" lang="en" sz="23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questions, two protocols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8298180" y="4745736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411480" y="1028700"/>
            <a:ext cx="4011930" cy="2400300"/>
          </a:xfrm>
          <a:prstGeom prst="roundRect">
            <a:avLst>
              <a:gd fmla="val 2571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3"/>
          <p:cNvSpPr/>
          <p:nvPr/>
        </p:nvSpPr>
        <p:spPr>
          <a:xfrm>
            <a:off x="617220" y="1138428"/>
            <a:ext cx="6858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3BC9"/>
              </a:buClr>
              <a:buSzPts val="1700"/>
              <a:buFont typeface="Quattrocento Sans"/>
              <a:buNone/>
            </a:pPr>
            <a:r>
              <a:rPr b="1" i="0" lang="en" sz="1700" u="none" cap="none" strike="noStrike">
                <a:solidFill>
                  <a:srgbClr val="6D3BC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617220" y="1440180"/>
            <a:ext cx="360045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Are the clusters any good?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617220" y="1673352"/>
            <a:ext cx="360045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3BC9"/>
              </a:buClr>
              <a:buSzPts val="900"/>
              <a:buFont typeface="Quattrocento Sans"/>
              <a:buNone/>
            </a:pPr>
            <a:r>
              <a:rPr b="0" i="1" lang="en" sz="900" u="none" cap="none" strike="noStrike">
                <a:solidFill>
                  <a:srgbClr val="6D3BC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Intrinsic + extrinsic quality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617220" y="1920240"/>
            <a:ext cx="3600450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ARI and NMI against the source pseudo-labels (subreddit / YouTube topic)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41666"/>
              </a:lnSpc>
              <a:spcBef>
                <a:spcPts val="60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Silhouette on the reduced embedding space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41666"/>
              </a:lnSpc>
              <a:spcBef>
                <a:spcPts val="60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Static and dynamic scored the same way, so the comparison is fair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617220" y="3051810"/>
            <a:ext cx="360045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Consolas"/>
                <a:ea typeface="Consolas"/>
                <a:cs typeface="Consolas"/>
                <a:sym typeface="Consolas"/>
              </a:rPr>
              <a:t>src/evaluation/metrics.py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4697730" y="1028700"/>
            <a:ext cx="4011930" cy="2400300"/>
          </a:xfrm>
          <a:prstGeom prst="roundRect">
            <a:avLst>
              <a:gd fmla="val 2571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3"/>
          <p:cNvSpPr/>
          <p:nvPr/>
        </p:nvSpPr>
        <p:spPr>
          <a:xfrm>
            <a:off x="4903470" y="1138428"/>
            <a:ext cx="68580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680E"/>
              </a:buClr>
              <a:buSzPts val="1700"/>
              <a:buFont typeface="Quattrocento Sans"/>
              <a:buNone/>
            </a:pPr>
            <a:r>
              <a:rPr b="1" i="0" lang="en" sz="1700" u="none" cap="none" strike="noStrike">
                <a:solidFill>
                  <a:srgbClr val="B468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4903470" y="1440180"/>
            <a:ext cx="360045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Does it catch a trend — and how fast?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4903470" y="1673352"/>
            <a:ext cx="360045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680E"/>
              </a:buClr>
              <a:buSzPts val="900"/>
              <a:buFont typeface="Quattrocento Sans"/>
              <a:buNone/>
            </a:pPr>
            <a:r>
              <a:rPr b="0" i="1" lang="en" sz="900" u="none" cap="none" strike="noStrike">
                <a:solidFill>
                  <a:srgbClr val="B468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Synthetic burst injection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4903470" y="1920240"/>
            <a:ext cx="3600450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Paraphrased burst topics injected into real background posts at known timestamps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41666"/>
              </a:lnSpc>
              <a:spcBef>
                <a:spcPts val="60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Measure detection latency, precision and recall against those timestamps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41666"/>
              </a:lnSpc>
              <a:spcBef>
                <a:spcPts val="60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Same protocol run against the sliding-window baseline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4903470" y="3051810"/>
            <a:ext cx="360045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Consolas"/>
                <a:ea typeface="Consolas"/>
                <a:cs typeface="Consolas"/>
                <a:sym typeface="Consolas"/>
              </a:rPr>
              <a:t>src/evaluation/injection.py + burst_benchmark.py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411480" y="3600450"/>
            <a:ext cx="8298180" cy="754380"/>
          </a:xfrm>
          <a:prstGeom prst="roundRect">
            <a:avLst>
              <a:gd fmla="val 8182" name="adj"/>
            </a:avLst>
          </a:prstGeom>
          <a:solidFill>
            <a:srgbClr val="EAF0FA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3"/>
          <p:cNvSpPr/>
          <p:nvPr/>
        </p:nvSpPr>
        <p:spPr>
          <a:xfrm>
            <a:off x="630936" y="3600450"/>
            <a:ext cx="7859268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1000"/>
              <a:buFont typeface="Quattrocento Sans"/>
              <a:buNone/>
            </a:pPr>
            <a:r>
              <a:rPr b="1" i="0" lang="en" sz="10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injection instead of hand-labelling real bursts?  </a:t>
            </a:r>
            <a:r>
              <a:rPr b="0" i="0" lang="en" sz="10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Nobody agrees on exactly when a real trend “started,” so hand labels would be arguable and the evaluation would be about our labelling, not our model. Injected timestamps are ground truth by construction.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"/>
          <p:cNvSpPr/>
          <p:nvPr/>
        </p:nvSpPr>
        <p:spPr>
          <a:xfrm>
            <a:off x="411480" y="233172"/>
            <a:ext cx="82981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RESULTS — PART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411480" y="425196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2300"/>
              <a:buFont typeface="Quattrocento Sans"/>
              <a:buNone/>
            </a:pPr>
            <a:r>
              <a:rPr b="1" i="0" lang="en" sz="23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Cluster quality: static vs. dynamic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8298180" y="4745736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2" name="Google Shape;342;p24"/>
          <p:cNvGraphicFramePr/>
          <p:nvPr/>
        </p:nvGraphicFramePr>
        <p:xfrm>
          <a:off x="411480" y="10629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{E6712AF8-A8E3-49F7-BAD7-DA0B3030FE5B}</a:tableStyleId>
              </a:tblPr>
              <a:tblGrid>
                <a:gridCol w="1748775"/>
                <a:gridCol w="685800"/>
                <a:gridCol w="685800"/>
                <a:gridCol w="11315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F73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B7F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Method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F73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B7F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ARI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F73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B7F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NMI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F73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B7F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Silhouette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Static (HDBSCAN, one-shot)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0.41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0.79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0.37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Dynamic (online, one pass)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F73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B7F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0.57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F73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B7F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0.85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7859C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77859C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—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</a:tr>
            </a:tbl>
          </a:graphicData>
        </a:graphic>
      </p:graphicFrame>
      <p:sp>
        <p:nvSpPr>
          <p:cNvPr id="343" name="Google Shape;343;p24"/>
          <p:cNvSpPr/>
          <p:nvPr/>
        </p:nvSpPr>
        <p:spPr>
          <a:xfrm>
            <a:off x="411480" y="2228850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1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 sample, 1,500-post real subset — replace with the full-corpus numbers from evaluation.json (static / dynamic) in the artifact bundle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994410"/>
            <a:ext cx="3909060" cy="312039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4"/>
          <p:cNvSpPr/>
          <p:nvPr/>
        </p:nvSpPr>
        <p:spPr>
          <a:xfrm>
            <a:off x="411480" y="2846070"/>
            <a:ext cx="4251960" cy="1508760"/>
          </a:xfrm>
          <a:prstGeom prst="roundRect">
            <a:avLst>
              <a:gd fmla="val 4091" name="adj"/>
            </a:avLst>
          </a:prstGeom>
          <a:solidFill>
            <a:srgbClr val="EAF0FA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4"/>
          <p:cNvSpPr/>
          <p:nvPr/>
        </p:nvSpPr>
        <p:spPr>
          <a:xfrm>
            <a:off x="617220" y="2846070"/>
            <a:ext cx="38404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Reading this honestly.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dynamic engine's per-post assignments agreed with the pseudo-labels more closely than the one-shot static baseline on this subset — and it did so in a single pass, with no re-clustering and no lookahead. Silhouette is not reported for the dynamic engine because its clusters live in the raw 384-d embedding space, not the UMAP space the static score is computed in; the two numbers would not be comparable.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/>
          <p:nvPr/>
        </p:nvSpPr>
        <p:spPr>
          <a:xfrm>
            <a:off x="411480" y="233172"/>
            <a:ext cx="82981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RESULTS — PART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5"/>
          <p:cNvSpPr/>
          <p:nvPr/>
        </p:nvSpPr>
        <p:spPr>
          <a:xfrm>
            <a:off x="411480" y="425196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2300"/>
              <a:buFont typeface="Quattrocento Sans"/>
              <a:buNone/>
            </a:pPr>
            <a:r>
              <a:rPr b="1" i="0" lang="en" sz="23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Burst detection: the headline result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5"/>
          <p:cNvSpPr/>
          <p:nvPr/>
        </p:nvSpPr>
        <p:spPr>
          <a:xfrm>
            <a:off x="8298180" y="4745736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5"/>
          <p:cNvSpPr/>
          <p:nvPr/>
        </p:nvSpPr>
        <p:spPr>
          <a:xfrm>
            <a:off x="411480" y="994410"/>
            <a:ext cx="2651760" cy="1028700"/>
          </a:xfrm>
          <a:prstGeom prst="roundRect">
            <a:avLst>
              <a:gd fmla="val 6000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5"/>
          <p:cNvSpPr/>
          <p:nvPr/>
        </p:nvSpPr>
        <p:spPr>
          <a:xfrm>
            <a:off x="582930" y="1069848"/>
            <a:ext cx="23088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2400"/>
              <a:buFont typeface="Quattrocento Sans"/>
              <a:buNone/>
            </a:pPr>
            <a:r>
              <a:rPr b="1" i="0" lang="en" sz="24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/>
          <p:nvPr/>
        </p:nvSpPr>
        <p:spPr>
          <a:xfrm>
            <a:off x="582930" y="1481328"/>
            <a:ext cx="23088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Detection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5"/>
          <p:cNvSpPr/>
          <p:nvPr/>
        </p:nvSpPr>
        <p:spPr>
          <a:xfrm>
            <a:off x="582930" y="1687068"/>
            <a:ext cx="23088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 of 6 injected bursts, both methods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5"/>
          <p:cNvSpPr/>
          <p:nvPr/>
        </p:nvSpPr>
        <p:spPr>
          <a:xfrm>
            <a:off x="3234690" y="994410"/>
            <a:ext cx="2651760" cy="1028700"/>
          </a:xfrm>
          <a:prstGeom prst="roundRect">
            <a:avLst>
              <a:gd fmla="val 6000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5"/>
          <p:cNvSpPr/>
          <p:nvPr/>
        </p:nvSpPr>
        <p:spPr>
          <a:xfrm>
            <a:off x="3406140" y="1069848"/>
            <a:ext cx="23088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680E"/>
              </a:buClr>
              <a:buSzPts val="2400"/>
              <a:buFont typeface="Quattrocento Sans"/>
              <a:buNone/>
            </a:pPr>
            <a:r>
              <a:rPr b="1" i="0" lang="en" sz="2400" u="none" cap="none" strike="noStrike">
                <a:solidFill>
                  <a:srgbClr val="B468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2.8×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5"/>
          <p:cNvSpPr/>
          <p:nvPr/>
        </p:nvSpPr>
        <p:spPr>
          <a:xfrm>
            <a:off x="3406140" y="1481328"/>
            <a:ext cx="23088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Faster to detect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5"/>
          <p:cNvSpPr/>
          <p:nvPr/>
        </p:nvSpPr>
        <p:spPr>
          <a:xfrm>
            <a:off x="3406140" y="1687068"/>
            <a:ext cx="23088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1.2 h vs. 3.4 h median latency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5"/>
          <p:cNvSpPr/>
          <p:nvPr/>
        </p:nvSpPr>
        <p:spPr>
          <a:xfrm>
            <a:off x="6057900" y="994410"/>
            <a:ext cx="2651760" cy="1028700"/>
          </a:xfrm>
          <a:prstGeom prst="roundRect">
            <a:avLst>
              <a:gd fmla="val 6000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5"/>
          <p:cNvSpPr/>
          <p:nvPr/>
        </p:nvSpPr>
        <p:spPr>
          <a:xfrm>
            <a:off x="6229350" y="1069848"/>
            <a:ext cx="23088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3BC9"/>
              </a:buClr>
              <a:buSzPts val="2400"/>
              <a:buFont typeface="Quattrocento Sans"/>
              <a:buNone/>
            </a:pPr>
            <a:r>
              <a:rPr b="1" i="0" lang="en" sz="2400" u="none" cap="none" strike="noStrike">
                <a:solidFill>
                  <a:srgbClr val="6D3BC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3.6×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5"/>
          <p:cNvSpPr/>
          <p:nvPr/>
        </p:nvSpPr>
        <p:spPr>
          <a:xfrm>
            <a:off x="6229350" y="1481328"/>
            <a:ext cx="23088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Less compute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6229350" y="1687068"/>
            <a:ext cx="23088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2,860 posts vs. 10,284 processed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7" name="Google Shape;367;p25"/>
          <p:cNvGraphicFramePr/>
          <p:nvPr/>
        </p:nvGraphicFramePr>
        <p:xfrm>
          <a:off x="411480" y="2194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{E6712AF8-A8E3-49F7-BAD7-DA0B3030FE5B}</a:tableStyleId>
              </a:tblPr>
              <a:tblGrid>
                <a:gridCol w="1474450"/>
                <a:gridCol w="822950"/>
                <a:gridCol w="891525"/>
                <a:gridCol w="12001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F73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B7F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Method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F73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B7F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Detection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F73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B7F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Median latency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F73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B7F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Posts processed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Dynamic engine (online)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F73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B7F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100%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F73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B7F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1.2 h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B7F73"/>
                        </a:buClr>
                        <a:buSzPts val="900"/>
                        <a:buFont typeface="Quattrocento Sans"/>
                        <a:buNone/>
                      </a:pPr>
                      <a:r>
                        <a:rPr b="1" lang="en" sz="900" u="none" cap="none" strike="noStrike">
                          <a:solidFill>
                            <a:srgbClr val="0B7F73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2,860  (once each)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Sliding-window HDBSCAN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100%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3.4 h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A2E"/>
                        </a:buClr>
                        <a:buSzPts val="900"/>
                        <a:buFont typeface="Quattrocento Sans"/>
                        <a:buNone/>
                      </a:pPr>
                      <a:r>
                        <a:rPr lang="en" sz="900" u="none" cap="none" strike="noStrike">
                          <a:solidFill>
                            <a:srgbClr val="111A2E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10,284  (3.6× the corpus)</a:t>
                      </a:r>
                      <a:endParaRPr sz="9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57150" marB="57150" marR="95250" marL="95250" anchor="ctr">
                    <a:lnL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3DB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C"/>
                    </a:solidFill>
                  </a:tcPr>
                </a:tc>
              </a:tr>
            </a:tbl>
          </a:graphicData>
        </a:graphic>
      </p:graphicFrame>
      <p:sp>
        <p:nvSpPr>
          <p:cNvPr id="368" name="Google Shape;368;p25"/>
          <p:cNvSpPr/>
          <p:nvPr/>
        </p:nvSpPr>
        <p:spPr>
          <a:xfrm>
            <a:off x="411480" y="339471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1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 sample, 6 injected bursts on a 2,860-post real Reddit slice — replace with eval_bursts.csv / eval_bursts_sliding_window.csv from your Kaggle run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" name="Google Shape;3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9180" y="2091690"/>
            <a:ext cx="384048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5"/>
          <p:cNvSpPr/>
          <p:nvPr/>
        </p:nvSpPr>
        <p:spPr>
          <a:xfrm>
            <a:off x="411480" y="3909060"/>
            <a:ext cx="8298180" cy="514350"/>
          </a:xfrm>
          <a:prstGeom prst="roundRect">
            <a:avLst>
              <a:gd fmla="val 12000" name="adj"/>
            </a:avLst>
          </a:prstGeom>
          <a:solidFill>
            <a:srgbClr val="EAF0FA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5"/>
          <p:cNvSpPr/>
          <p:nvPr/>
        </p:nvSpPr>
        <p:spPr>
          <a:xfrm>
            <a:off x="630936" y="3909060"/>
            <a:ext cx="7859268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B4680E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B468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message: </a:t>
            </a: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both methods catch every injected burst — the online engine simply gets there roughly three times sooner, at a fraction of the compute. That is the actual case for “dynamic,” not merely that it works in isolation.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6"/>
          <p:cNvSpPr/>
          <p:nvPr/>
        </p:nvSpPr>
        <p:spPr>
          <a:xfrm>
            <a:off x="411480" y="233172"/>
            <a:ext cx="82981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411480" y="425196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2300"/>
              <a:buFont typeface="Quattrocento Sans"/>
              <a:buNone/>
            </a:pPr>
            <a:r>
              <a:rPr b="1" i="0" lang="en" sz="23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dashboard, in Precomputed mode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8298180" y="4745736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411480" y="1028700"/>
            <a:ext cx="8298180" cy="425196"/>
          </a:xfrm>
          <a:prstGeom prst="roundRect">
            <a:avLst>
              <a:gd fmla="val 14516" name="adj"/>
            </a:avLst>
          </a:prstGeom>
          <a:solidFill>
            <a:srgbClr val="EAF0FA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6"/>
          <p:cNvSpPr/>
          <p:nvPr/>
        </p:nvSpPr>
        <p:spPr>
          <a:xfrm>
            <a:off x="617220" y="1028700"/>
            <a:ext cx="7886700" cy="425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1100"/>
              <a:buFont typeface="Consolas"/>
              <a:buNone/>
            </a:pPr>
            <a:r>
              <a:rPr b="1" i="0" lang="en" sz="1100" u="none" cap="none" strike="noStrike">
                <a:solidFill>
                  <a:srgbClr val="0B7F73"/>
                </a:solidFill>
                <a:latin typeface="Consolas"/>
                <a:ea typeface="Consolas"/>
                <a:cs typeface="Consolas"/>
                <a:sym typeface="Consolas"/>
              </a:rPr>
              <a:t>streamlit run src/dashboard/app.py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6"/>
          <p:cNvSpPr/>
          <p:nvPr/>
        </p:nvSpPr>
        <p:spPr>
          <a:xfrm>
            <a:off x="411480" y="1611630"/>
            <a:ext cx="2651760" cy="1714500"/>
          </a:xfrm>
          <a:prstGeom prst="roundRect">
            <a:avLst>
              <a:gd fmla="val 3600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6"/>
          <p:cNvSpPr/>
          <p:nvPr/>
        </p:nvSpPr>
        <p:spPr>
          <a:xfrm>
            <a:off x="603504" y="1728216"/>
            <a:ext cx="6172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3BC9"/>
              </a:buClr>
              <a:buSzPts val="2000"/>
              <a:buFont typeface="Quattrocento Sans"/>
              <a:buNone/>
            </a:pPr>
            <a:r>
              <a:rPr b="1" i="0" lang="en" sz="2000" u="none" cap="none" strike="noStrike">
                <a:solidFill>
                  <a:srgbClr val="6D3BC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603504" y="2091690"/>
            <a:ext cx="226771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Overview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603504" y="2366010"/>
            <a:ext cx="2267712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Platform breakdown and the honest time-window table — the same numbers as slide 4, generated live from the artifact bundle.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6"/>
          <p:cNvSpPr/>
          <p:nvPr/>
        </p:nvSpPr>
        <p:spPr>
          <a:xfrm>
            <a:off x="3234690" y="1611630"/>
            <a:ext cx="2651760" cy="1714500"/>
          </a:xfrm>
          <a:prstGeom prst="roundRect">
            <a:avLst>
              <a:gd fmla="val 3600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6"/>
          <p:cNvSpPr/>
          <p:nvPr/>
        </p:nvSpPr>
        <p:spPr>
          <a:xfrm>
            <a:off x="3426714" y="1728216"/>
            <a:ext cx="6172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2000"/>
              <a:buFont typeface="Quattrocento Sans"/>
              <a:buNone/>
            </a:pPr>
            <a:r>
              <a:rPr b="1" i="0" lang="en" sz="20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3426714" y="2091690"/>
            <a:ext cx="226771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Trending Now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3426714" y="2366010"/>
            <a:ext cx="2267712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or three real trend cards. Read the growth rate and burst z-score straight off the card, and name the actual topic behind 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6"/>
          <p:cNvSpPr/>
          <p:nvPr/>
        </p:nvSpPr>
        <p:spPr>
          <a:xfrm>
            <a:off x="6057900" y="1611630"/>
            <a:ext cx="2651760" cy="1714500"/>
          </a:xfrm>
          <a:prstGeom prst="roundRect">
            <a:avLst>
              <a:gd fmla="val 3600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6"/>
          <p:cNvSpPr/>
          <p:nvPr/>
        </p:nvSpPr>
        <p:spPr>
          <a:xfrm>
            <a:off x="6249924" y="1728216"/>
            <a:ext cx="6172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680E"/>
              </a:buClr>
              <a:buSzPts val="2000"/>
              <a:buFont typeface="Quattrocento Sans"/>
              <a:buNone/>
            </a:pPr>
            <a:r>
              <a:rPr b="1" i="0" lang="en" sz="2000" u="none" cap="none" strike="noStrike">
                <a:solidFill>
                  <a:srgbClr val="B468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6"/>
          <p:cNvSpPr/>
          <p:nvPr/>
        </p:nvSpPr>
        <p:spPr>
          <a:xfrm>
            <a:off x="6249924" y="2091690"/>
            <a:ext cx="2267712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6249924" y="2366010"/>
            <a:ext cx="2267712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ARI / NMI table and the burst-detection comparison from slides 10 and 11, rendered from the same evaluation artifacts.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6"/>
          <p:cNvSpPr/>
          <p:nvPr/>
        </p:nvSpPr>
        <p:spPr>
          <a:xfrm>
            <a:off x="411480" y="3497580"/>
            <a:ext cx="8298180" cy="857250"/>
          </a:xfrm>
          <a:prstGeom prst="roundRect">
            <a:avLst>
              <a:gd fmla="val 7200" name="adj"/>
            </a:avLst>
          </a:prstGeom>
          <a:solidFill>
            <a:srgbClr val="EAF0FA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6"/>
          <p:cNvSpPr/>
          <p:nvPr/>
        </p:nvSpPr>
        <p:spPr>
          <a:xfrm>
            <a:off x="562356" y="3614166"/>
            <a:ext cx="41148" cy="624078"/>
          </a:xfrm>
          <a:prstGeom prst="roundRect">
            <a:avLst>
              <a:gd fmla="val 50000" name="adj"/>
            </a:avLst>
          </a:prstGeom>
          <a:solidFill>
            <a:srgbClr val="C0392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6"/>
          <p:cNvSpPr/>
          <p:nvPr/>
        </p:nvSpPr>
        <p:spPr>
          <a:xfrm>
            <a:off x="720090" y="3497580"/>
            <a:ext cx="774954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Quattrocento Sans"/>
              <a:buNone/>
            </a:pPr>
            <a:r>
              <a:rPr b="1" i="0" lang="en" sz="10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Fallback plan.  </a:t>
            </a:r>
            <a:r>
              <a:rPr b="0" i="0" lang="en" sz="10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Precomputed mode loads instantly because nothing is recomputed — but if the room has no reliable network or screen share, present the three screenshots taken beforehand instead. A failed live demo should never eat the time slot.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7"/>
          <p:cNvSpPr/>
          <p:nvPr/>
        </p:nvSpPr>
        <p:spPr>
          <a:xfrm>
            <a:off x="411480" y="233172"/>
            <a:ext cx="82981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/>
          <p:nvPr/>
        </p:nvSpPr>
        <p:spPr>
          <a:xfrm>
            <a:off x="411480" y="425196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2300"/>
              <a:buFont typeface="Quattrocento Sans"/>
              <a:buNone/>
            </a:pPr>
            <a:r>
              <a:rPr b="1" i="0" lang="en" sz="23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this does not show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7"/>
          <p:cNvSpPr/>
          <p:nvPr/>
        </p:nvSpPr>
        <p:spPr>
          <a:xfrm>
            <a:off x="8298180" y="4745736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7"/>
          <p:cNvSpPr/>
          <p:nvPr/>
        </p:nvSpPr>
        <p:spPr>
          <a:xfrm>
            <a:off x="411480" y="1028700"/>
            <a:ext cx="4053078" cy="1268730"/>
          </a:xfrm>
          <a:prstGeom prst="roundRect">
            <a:avLst>
              <a:gd fmla="val 4865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617220" y="1220724"/>
            <a:ext cx="96012" cy="96012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7"/>
          <p:cNvSpPr/>
          <p:nvPr/>
        </p:nvSpPr>
        <p:spPr>
          <a:xfrm>
            <a:off x="795528" y="1165860"/>
            <a:ext cx="34358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Platform windows barely overlap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7"/>
          <p:cNvSpPr/>
          <p:nvPr/>
        </p:nvSpPr>
        <p:spPr>
          <a:xfrm>
            <a:off x="617220" y="1440180"/>
            <a:ext cx="3641598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Reddit covers four weeks of 2024, Twitter sits in 2020–21, YouTube spans a decade. No genuine cross-platform co-occurrence is possible in this corpus as collected — slide 4's timeline is the proof.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7"/>
          <p:cNvSpPr/>
          <p:nvPr/>
        </p:nvSpPr>
        <p:spPr>
          <a:xfrm>
            <a:off x="4656582" y="1028700"/>
            <a:ext cx="4053078" cy="1268730"/>
          </a:xfrm>
          <a:prstGeom prst="roundRect">
            <a:avLst>
              <a:gd fmla="val 4865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4862322" y="1220724"/>
            <a:ext cx="96012" cy="96012"/>
          </a:xfrm>
          <a:prstGeom prst="ellipse">
            <a:avLst/>
          </a:prstGeom>
          <a:solidFill>
            <a:srgbClr val="B4680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5040630" y="1165860"/>
            <a:ext cx="34358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Twitter/X is effectively single-topic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4862322" y="1440180"/>
            <a:ext cx="3641598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Twitter slice is COVID-vaccine discourse. It contributes volume and a second writing style, but not topic diversity — and it inflates any corpus-level cluster-quality score.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/>
          <p:nvPr/>
        </p:nvSpPr>
        <p:spPr>
          <a:xfrm>
            <a:off x="411480" y="2434590"/>
            <a:ext cx="4053078" cy="1268730"/>
          </a:xfrm>
          <a:prstGeom prst="roundRect">
            <a:avLst>
              <a:gd fmla="val 4865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617220" y="2626614"/>
            <a:ext cx="96012" cy="96012"/>
          </a:xfrm>
          <a:prstGeom prst="ellipse">
            <a:avLst/>
          </a:prstGeom>
          <a:solidFill>
            <a:srgbClr val="6D3BC9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7"/>
          <p:cNvSpPr/>
          <p:nvPr/>
        </p:nvSpPr>
        <p:spPr>
          <a:xfrm>
            <a:off x="795528" y="2571750"/>
            <a:ext cx="34358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100"/>
              <a:buFont typeface="Quattrocento Sans"/>
              <a:buNone/>
            </a:pPr>
            <a:r>
              <a:rPr b="1" lang="en" sz="1100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</a:t>
            </a:r>
            <a:r>
              <a:rPr b="1" i="0" lang="en" sz="11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ource labels are not ground truth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7"/>
          <p:cNvSpPr/>
          <p:nvPr/>
        </p:nvSpPr>
        <p:spPr>
          <a:xfrm>
            <a:off x="617220" y="2846070"/>
            <a:ext cx="3641598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Subreddit and YouTube topic are a free, convenient pseudo-label. A post can sit in the right subreddit and the wrong topic; ARI and NMI against them are a signal, not a verdict.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7"/>
          <p:cNvSpPr/>
          <p:nvPr/>
        </p:nvSpPr>
        <p:spPr>
          <a:xfrm>
            <a:off x="4656582" y="2434590"/>
            <a:ext cx="4053078" cy="1268730"/>
          </a:xfrm>
          <a:prstGeom prst="roundRect">
            <a:avLst>
              <a:gd fmla="val 4865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4862322" y="2626614"/>
            <a:ext cx="96012" cy="96012"/>
          </a:xfrm>
          <a:prstGeom prst="ellipse">
            <a:avLst/>
          </a:prstGeom>
          <a:solidFill>
            <a:srgbClr val="0B7F73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7"/>
          <p:cNvSpPr/>
          <p:nvPr/>
        </p:nvSpPr>
        <p:spPr>
          <a:xfrm>
            <a:off x="5040630" y="2571750"/>
            <a:ext cx="343585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Burst precision is low untuned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7"/>
          <p:cNvSpPr/>
          <p:nvPr/>
        </p:nvSpPr>
        <p:spPr>
          <a:xfrm>
            <a:off x="4862322" y="2846070"/>
            <a:ext cx="3641598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 default thresholds the burst benchmark trades precision for recall. The parameter sweep in sweeps.py exists precisely because the right threshold depends on the corpus — it is not a single universal constant.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7"/>
          <p:cNvSpPr/>
          <p:nvPr/>
        </p:nvSpPr>
        <p:spPr>
          <a:xfrm>
            <a:off x="411480" y="3943350"/>
            <a:ext cx="82981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1100"/>
              <a:buFont typeface="Quattrocento Sans"/>
              <a:buNone/>
            </a:pPr>
            <a:r>
              <a:rPr b="1" i="1" lang="en" sz="11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slide, stated plainly, is worth more than a Q&amp;A ambush.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8"/>
          <p:cNvSpPr/>
          <p:nvPr/>
        </p:nvSpPr>
        <p:spPr>
          <a:xfrm>
            <a:off x="411480" y="233172"/>
            <a:ext cx="82981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900"/>
              <a:buFont typeface="Quattrocento Sans"/>
              <a:buNone/>
            </a:pPr>
            <a:r>
              <a:rPr b="1" i="0" lang="en" sz="9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8"/>
          <p:cNvSpPr/>
          <p:nvPr/>
        </p:nvSpPr>
        <p:spPr>
          <a:xfrm>
            <a:off x="411480" y="425196"/>
            <a:ext cx="8298180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2300"/>
              <a:buFont typeface="Quattrocento Sans"/>
              <a:buNone/>
            </a:pPr>
            <a:r>
              <a:rPr b="1" i="0" lang="en" sz="23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Both questions, answered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8"/>
          <p:cNvSpPr/>
          <p:nvPr/>
        </p:nvSpPr>
        <p:spPr>
          <a:xfrm>
            <a:off x="8298180" y="4745736"/>
            <a:ext cx="41148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7859C"/>
              </a:buClr>
              <a:buSzPts val="800"/>
              <a:buFont typeface="Quattrocento Sans"/>
              <a:buNone/>
            </a:pPr>
            <a:r>
              <a:rPr b="0" i="0" lang="en" sz="800" u="none" cap="none" strike="noStrike">
                <a:solidFill>
                  <a:srgbClr val="77859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8"/>
          <p:cNvSpPr/>
          <p:nvPr/>
        </p:nvSpPr>
        <p:spPr>
          <a:xfrm>
            <a:off x="411480" y="994410"/>
            <a:ext cx="4457700" cy="994410"/>
          </a:xfrm>
          <a:prstGeom prst="roundRect">
            <a:avLst>
              <a:gd fmla="val 6207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8"/>
          <p:cNvSpPr/>
          <p:nvPr/>
        </p:nvSpPr>
        <p:spPr>
          <a:xfrm>
            <a:off x="603504" y="1131570"/>
            <a:ext cx="5486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3BC9"/>
              </a:buClr>
              <a:buSzPts val="1700"/>
              <a:buFont typeface="Quattrocento Sans"/>
              <a:buNone/>
            </a:pPr>
            <a:r>
              <a:rPr b="1" i="0" lang="en" sz="1700" u="none" cap="none" strike="noStrike">
                <a:solidFill>
                  <a:srgbClr val="6D3BC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8"/>
          <p:cNvSpPr/>
          <p:nvPr/>
        </p:nvSpPr>
        <p:spPr>
          <a:xfrm>
            <a:off x="1097280" y="1117854"/>
            <a:ext cx="36347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 the dataset diverse?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8"/>
          <p:cNvSpPr/>
          <p:nvPr/>
        </p:nvSpPr>
        <p:spPr>
          <a:xfrm>
            <a:off x="1097280" y="1357884"/>
            <a:ext cx="36347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Three platforms and 44,753 posts across Reddit, Twitter/X and YouTube, with a Bluesky loader in place — and an explicit, unhidden caveat about the non-overlapping time windows.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8"/>
          <p:cNvSpPr/>
          <p:nvPr/>
        </p:nvSpPr>
        <p:spPr>
          <a:xfrm>
            <a:off x="411480" y="2105406"/>
            <a:ext cx="4457700" cy="994410"/>
          </a:xfrm>
          <a:prstGeom prst="roundRect">
            <a:avLst>
              <a:gd fmla="val 6207" name="adj"/>
            </a:avLst>
          </a:prstGeom>
          <a:solidFill>
            <a:srgbClr val="F5F7FC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8"/>
          <p:cNvSpPr/>
          <p:nvPr/>
        </p:nvSpPr>
        <p:spPr>
          <a:xfrm>
            <a:off x="603504" y="2242566"/>
            <a:ext cx="54864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680E"/>
              </a:buClr>
              <a:buSzPts val="1700"/>
              <a:buFont typeface="Quattrocento Sans"/>
              <a:buNone/>
            </a:pPr>
            <a:r>
              <a:rPr b="1" i="0" lang="en" sz="1700" u="none" cap="none" strike="noStrike">
                <a:solidFill>
                  <a:srgbClr val="B4680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8"/>
          <p:cNvSpPr/>
          <p:nvPr/>
        </p:nvSpPr>
        <p:spPr>
          <a:xfrm>
            <a:off x="1097280" y="2228850"/>
            <a:ext cx="36347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1100"/>
              <a:buFont typeface="Quattrocento Sans"/>
              <a:buNone/>
            </a:pPr>
            <a:r>
              <a:rPr b="1" i="0" lang="en" sz="11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Does it detect emerging trends?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8"/>
          <p:cNvSpPr/>
          <p:nvPr/>
        </p:nvSpPr>
        <p:spPr>
          <a:xfrm>
            <a:off x="1097280" y="2468880"/>
            <a:ext cx="36347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826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injected burst detected, at roughly 2.8× lower median latency and 3.6× less compute than periodic re-clustering, at comparable or better cluster quality.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8"/>
          <p:cNvSpPr/>
          <p:nvPr/>
        </p:nvSpPr>
        <p:spPr>
          <a:xfrm>
            <a:off x="5074920" y="994410"/>
            <a:ext cx="3634740" cy="2023110"/>
          </a:xfrm>
          <a:prstGeom prst="roundRect">
            <a:avLst>
              <a:gd fmla="val 3051" name="adj"/>
            </a:avLst>
          </a:prstGeom>
          <a:solidFill>
            <a:srgbClr val="EAF0FA"/>
          </a:solidFill>
          <a:ln cap="flat" cmpd="sng" w="12700">
            <a:solidFill>
              <a:srgbClr val="D3DB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8"/>
          <p:cNvSpPr/>
          <p:nvPr/>
        </p:nvSpPr>
        <p:spPr>
          <a:xfrm>
            <a:off x="5280660" y="1110996"/>
            <a:ext cx="322326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7F73"/>
              </a:buClr>
              <a:buSzPts val="1200"/>
              <a:buFont typeface="Quattrocento Sans"/>
              <a:buNone/>
            </a:pPr>
            <a:r>
              <a:rPr b="1" i="0" lang="en" sz="1200" u="none" cap="none" strike="noStrike">
                <a:solidFill>
                  <a:srgbClr val="0B7F7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What's next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8"/>
          <p:cNvSpPr/>
          <p:nvPr/>
        </p:nvSpPr>
        <p:spPr>
          <a:xfrm>
            <a:off x="5280660" y="1405890"/>
            <a:ext cx="32232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7650" lvl="0" marL="25400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 aligned-timeline cross-platform demo, scored honestly rather than assumed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44000"/>
              </a:lnSpc>
              <a:spcBef>
                <a:spcPts val="80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Richer LLM-based trend summarisation beyond the offline TF-IDF fallback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44000"/>
              </a:lnSpc>
              <a:spcBef>
                <a:spcPts val="80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Char char="•"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genuinely live Reddit stream feeding the dashboard, instead of a historical replay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8"/>
          <p:cNvSpPr/>
          <p:nvPr/>
        </p:nvSpPr>
        <p:spPr>
          <a:xfrm>
            <a:off x="411480" y="3257550"/>
            <a:ext cx="8298180" cy="1028700"/>
          </a:xfrm>
          <a:prstGeom prst="roundRect">
            <a:avLst>
              <a:gd fmla="val 6667" name="adj"/>
            </a:avLst>
          </a:prstGeom>
          <a:solidFill>
            <a:srgbClr val="EAF0FA"/>
          </a:solidFill>
          <a:ln cap="flat" cmpd="sng" w="15875">
            <a:solidFill>
              <a:srgbClr val="0B7F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8"/>
          <p:cNvSpPr/>
          <p:nvPr/>
        </p:nvSpPr>
        <p:spPr>
          <a:xfrm>
            <a:off x="411480" y="3360420"/>
            <a:ext cx="829818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A2E"/>
              </a:buClr>
              <a:buSzPts val="2000"/>
              <a:buFont typeface="Quattrocento Sans"/>
              <a:buNone/>
            </a:pPr>
            <a:r>
              <a:rPr b="1" i="0" lang="en" sz="2000" u="none" cap="none" strike="noStrike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r>
              <a:rPr b="1" lang="en" sz="2000">
                <a:solidFill>
                  <a:srgbClr val="11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8"/>
          <p:cNvSpPr/>
          <p:nvPr/>
        </p:nvSpPr>
        <p:spPr>
          <a:xfrm>
            <a:off x="411480" y="3771900"/>
            <a:ext cx="829818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536B"/>
              </a:buClr>
              <a:buSzPts val="900"/>
              <a:buFont typeface="Quattrocento Sans"/>
              <a:buNone/>
            </a:pPr>
            <a:r>
              <a:rPr b="0" i="0" lang="en" sz="900" u="none" cap="none" strike="noStrike">
                <a:solidFill>
                  <a:srgbClr val="4453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Dynamic Social Media Trend Detection  ·  CSE 445  ·  Code, notebook and dashboard available in the project repository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